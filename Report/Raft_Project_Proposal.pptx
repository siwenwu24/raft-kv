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274320"/>
            <a:ext cx="1097280" cy="1097280"/>
          </a:xfrm>
          <a:prstGeom prst="ellipse">
            <a:avLst/>
          </a:prstGeom>
          <a:solidFill>
            <a:srgbClr val="38BDF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0"/>
            <a:ext cx="731520" cy="73152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8BDF8"/>
                </a:solidFill>
                <a:latin typeface="Calibri"/>
              </a:defRPr>
            </a:pPr>
            <a:r>
              <a:t>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Raft Consensus</a:t>
            </a:r>
            <a:br/>
            <a:r>
              <a:t>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4A3B8"/>
                </a:solidFill>
                <a:latin typeface="Calibri"/>
              </a:defRPr>
            </a:pPr>
            <a:r>
              <a:t>Distributed Key-Value Store with Chaos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22860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Qian Li  |  Wenyu Yang  |  Siwen Wu  |  Zhengyi Xu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Distributed Systems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2D3E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3383280" cy="26517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3383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Raft KV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97763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38BDF8"/>
                </a:solidFill>
                <a:latin typeface="Calibri"/>
              </a:defRPr>
            </a:pPr>
            <a:r>
              <a:t>5 EC2 Instances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519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Go service with hashicorp/raft,</a:t>
            </a:r>
            <a:br/>
            <a:r>
              <a:t>embedded HTTP API for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8006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Leader election &amp; log replication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00176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Custom raft.FSM (GET/PUT/DELETE)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20293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Writes forwarded to leader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40410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strong — linearizable reads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60527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default — bounded staleness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806439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stale — eventual consistency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520440"/>
            <a:ext cx="3383280" cy="26517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520440"/>
            <a:ext cx="338328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Chaos 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97763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FBBF24"/>
                </a:solidFill>
                <a:latin typeface="Calibri"/>
              </a:defRPr>
            </a:pPr>
            <a:r>
              <a:t>Shell Scripts + SSH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2519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Injects controlled failures</a:t>
            </a:r>
            <a:br/>
            <a:r>
              <a:t>into the cluster via SSH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8006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Leader kill / restart via SSH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00176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Network partition (iptables)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20293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Message delay/drop (tc)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540410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Automated experiment runner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60527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Timed steps with sleep phases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3520440"/>
            <a:ext cx="3383280" cy="26517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19" y="3520440"/>
            <a:ext cx="338328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397763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A78BFA"/>
                </a:solidFill>
                <a:latin typeface="Calibri"/>
              </a:defRPr>
            </a:pPr>
            <a:r>
              <a:t>Data Collection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42519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Structured JSON logs per node,</a:t>
            </a:r>
            <a:br/>
            <a:r>
              <a:t>collected to S3 after experiments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48006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Term, role, commit index 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500176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Apply latency &amp; throughput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520293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S3 log collection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9" y="5404103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Python + matplotlib charts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9" y="560527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BD5E1"/>
                </a:solidFill>
                <a:latin typeface="Calibri"/>
              </a:defRPr>
            </a:pPr>
            <a:r>
              <a:t>›  Static analysis for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EXPERIMENTS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4A3B8"/>
                </a:solidFill>
                <a:latin typeface="Calibri"/>
              </a:defRPr>
            </a:pPr>
            <a:r>
              <a:t>Chaos Engineering  |  Fault Tolerance  |  Read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8288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23774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4864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1645920"/>
            <a:ext cx="4114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45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Leader Crash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Measure cluster recovery speed after leader failures under 200 writes/sec.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›  Election timeouts: 150ms, 300ms, 500ms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077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›  Back-to-back leader kill scenarios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638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›  Track: election time, downtime, lost writes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1985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›  Expected: election within 1–2x timeout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463040"/>
            <a:ext cx="3474720" cy="23774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463040"/>
            <a:ext cx="54864" cy="2377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1645920"/>
            <a:ext cx="41148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645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64592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Network Partition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Validate consistency under partitions — majority continues, minority halts.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651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›  Minority partition (2 isolated)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9077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›  Leader isolation → new 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1638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›  Symmetric split (2-2-1) → halt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41985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›  Post-heal consistency verification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1463040"/>
            <a:ext cx="3474720" cy="23774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9" y="1463040"/>
            <a:ext cx="54864" cy="2377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39" y="1645920"/>
            <a:ext cx="4114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39" y="1645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164592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Read Scalability Tradeoff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2057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Quantify how follower reads enable horizontal scaling by consistency mode.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2651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›  Phase A: leader-only vs follower reads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29077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›  Phase B: strong / default / stale modes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1638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›  Expected: near-linear scaling, stale 3–5x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2D3EE"/>
                </a:solidFill>
                <a:latin typeface="Calibri"/>
              </a:defRPr>
            </a:pPr>
            <a:r>
              <a:t>SCALING GOALS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80560"/>
            <a:ext cx="2606040" cy="19659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480560"/>
            <a:ext cx="2606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6177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38BDF8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51206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Fault Tolerance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54406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Tolerate up to 2 node failures</a:t>
            </a:r>
            <a:br/>
            <a:r>
              <a:t>while maintaining consistency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0" y="4480560"/>
            <a:ext cx="2606040" cy="19659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74720" y="4480560"/>
            <a:ext cx="2606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46177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34D399"/>
                </a:solidFill>
                <a:latin typeface="Calibri"/>
              </a:defRPr>
            </a:pPr>
            <a:r>
              <a:t>3–5x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1206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Read Throughput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4406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Follower reads scale linearly</a:t>
            </a:r>
            <a:br/>
            <a:r>
              <a:t>with added nodes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4480560"/>
            <a:ext cx="2606040" cy="19659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4480560"/>
            <a:ext cx="260604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6177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BBF24"/>
                </a:solidFill>
                <a:latin typeface="Calibri"/>
              </a:defRPr>
            </a:pPr>
            <a:r>
              <a:t>0 lost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1206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Graceful Degradation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4406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Predictable performance</a:t>
            </a:r>
            <a:br/>
            <a:r>
              <a:t>under increasing failures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4480560"/>
            <a:ext cx="2606040" cy="19659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4000" y="4480560"/>
            <a:ext cx="26060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46177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A78BFA"/>
                </a:solidFill>
                <a:latin typeface="Calibri"/>
              </a:defRPr>
            </a:pPr>
            <a:r>
              <a:t>&lt;1s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51206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Recovery Speed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54406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Fast leader election and</a:t>
            </a:r>
            <a:br/>
            <a:r>
              <a:t>log catch-up minimizes downtime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